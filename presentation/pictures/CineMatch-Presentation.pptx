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1675"/>
  <p:notesSz cx="6858000" cy="12191675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font" Target="fonts/Play-bold.fntdata"/><Relationship Id="rId12" Type="http://schemas.openxmlformats.org/officeDocument/2006/relationships/slide" Target="slides/slide8.xml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75a814f9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e675a814f9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675a814f9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675a814f9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675a814f9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675a814f9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675a814f9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675a814f9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675a814f9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675a814f9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e675a814f9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675a814f9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75a814f9_8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675a814f9_8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675a814f9_8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675a814f9_8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e675a814f9_8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e675a814f9_8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cinematic_high_quality_digital_scene_of_a_dark_batch_1.png" id="16" name="Google Shape;16;p3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-12" y="0"/>
            <a:ext cx="1219169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000000">
              <a:alpha val="65098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18975" y="4206270"/>
            <a:ext cx="7680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4800"/>
              <a:buFont typeface="Play"/>
              <a:buNone/>
            </a:pPr>
            <a:r>
              <a:rPr b="1" i="0" lang="en-US" sz="62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CineMatch</a:t>
            </a:r>
            <a:endParaRPr b="0" i="0" sz="6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8907" y="4892071"/>
            <a:ext cx="658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7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EE7FF"/>
                </a:solidFill>
                <a:latin typeface="Arial"/>
                <a:ea typeface="Arial"/>
                <a:cs typeface="Arial"/>
                <a:sym typeface="Arial"/>
              </a:rPr>
              <a:t>Movie recommendation web app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8900" y="5297369"/>
            <a:ext cx="80466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Personalized discovery powered by ratings, favorites, comments, and catalog metadata</a:t>
            </a:r>
            <a:endParaRPr b="0" i="0" sz="1400" u="none" cap="none" strike="noStrike">
              <a:solidFill>
                <a:srgbClr val="F5F7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5F7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5F7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5F7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5F7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400"/>
              <a:buFont typeface="Arial"/>
              <a:buNone/>
            </a:pPr>
            <a:r>
              <a:rPr lang="en-US">
                <a:solidFill>
                  <a:srgbClr val="F5F7FF"/>
                </a:solidFill>
              </a:rPr>
              <a:t>github.com/bigbadcyborg/movie-recommendation-app</a:t>
            </a:r>
            <a:endParaRPr>
              <a:solidFill>
                <a:srgbClr val="F5F7FF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49808" y="5849112"/>
            <a:ext cx="1234500" cy="310800"/>
          </a:xfrm>
          <a:prstGeom prst="roundRect">
            <a:avLst>
              <a:gd fmla="val 23529" name="adj"/>
            </a:avLst>
          </a:prstGeom>
          <a:solidFill>
            <a:srgbClr val="171A34"/>
          </a:solidFill>
          <a:ln cap="flat" cmpd="sng" w="12700">
            <a:solidFill>
              <a:srgbClr val="2C315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32104" y="5926836"/>
            <a:ext cx="10698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148840" y="5849112"/>
            <a:ext cx="1143000" cy="310800"/>
          </a:xfrm>
          <a:prstGeom prst="roundRect">
            <a:avLst>
              <a:gd fmla="val 23529" name="adj"/>
            </a:avLst>
          </a:prstGeom>
          <a:solidFill>
            <a:srgbClr val="171A34"/>
          </a:solidFill>
          <a:ln cap="flat" cmpd="sng" w="12700">
            <a:solidFill>
              <a:srgbClr val="2C315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231136" y="5926836"/>
            <a:ext cx="978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Express API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456432" y="5849112"/>
            <a:ext cx="1326000" cy="310800"/>
          </a:xfrm>
          <a:prstGeom prst="roundRect">
            <a:avLst>
              <a:gd fmla="val 23529" name="adj"/>
            </a:avLst>
          </a:prstGeom>
          <a:solidFill>
            <a:srgbClr val="171A34"/>
          </a:solidFill>
          <a:ln cap="flat" cmpd="sng" w="12700">
            <a:solidFill>
              <a:srgbClr val="2C315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538728" y="5926836"/>
            <a:ext cx="1161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SQLite + sql.js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3500" u="sng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Problem and </a:t>
            </a:r>
            <a:r>
              <a:rPr b="1" lang="en-US" sz="3500" u="sng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G</a:t>
            </a:r>
            <a:r>
              <a:rPr b="1" i="0" lang="en-US" sz="3500" u="sng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oal</a:t>
            </a:r>
            <a:endParaRPr b="0" i="0" sz="35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6928" y="786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6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Move users from “what should I watch?” to a confident choice.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31520" y="1444752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Choosing a movie is overwhelming.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68680" y="2221992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97280" y="21488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Generic top lists ignore personal taste.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68680" y="2862072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097280" y="27889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5F7FF"/>
                </a:solidFill>
              </a:rPr>
              <a:t>People have to use their intuitive/subconscious memory to think of</a:t>
            </a:r>
            <a:r>
              <a:rPr b="0" i="0" lang="en-US" sz="16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 ratings, favorites, comments.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097280" y="34290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Goal: turn engagement into useful recommendations.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761880" y="5269658"/>
            <a:ext cx="8667900" cy="1155900"/>
          </a:xfrm>
          <a:prstGeom prst="roundRect">
            <a:avLst>
              <a:gd fmla="val 12500" name="adj"/>
            </a:avLst>
          </a:prstGeom>
          <a:solidFill>
            <a:srgbClr val="090B16">
              <a:alpha val="92156"/>
            </a:srgbClr>
          </a:solidFill>
          <a:ln cap="flat" cmpd="sng" w="25075">
            <a:solidFill>
              <a:srgbClr val="3D4070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550" lIns="180550" spcFirstLastPara="1" rIns="180550" wrap="square" tIns="18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249446" y="5648880"/>
            <a:ext cx="7765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370"/>
              <a:buFont typeface="Arial"/>
              <a:buNone/>
            </a:pPr>
            <a:r>
              <a:rPr b="0" i="0" lang="en-US" sz="237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User behavior + movie metadata = better discovery</a:t>
            </a:r>
            <a:endParaRPr b="0" i="0" sz="2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4" title="8fc934bc-15a3-4177-8946-b05b9bf46ef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975" y="1140336"/>
            <a:ext cx="6313476" cy="3553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32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What users can do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66928" y="786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22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Four core flows in the browser experience.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85800" y="1325880"/>
            <a:ext cx="2514600" cy="4023360"/>
          </a:xfrm>
          <a:prstGeom prst="roundRect">
            <a:avLst>
              <a:gd fmla="val 2909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85800" y="1325880"/>
            <a:ext cx="73152" cy="4023360"/>
          </a:xfrm>
          <a:prstGeom prst="rect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941832" y="152704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9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Browse &amp; search</a:t>
            </a:r>
            <a:endParaRPr b="0" i="0" sz="19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41832" y="1874520"/>
            <a:ext cx="210312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9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Browse movies, search by title or director, filter by genre, and sort by year or rating.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520440" y="1325880"/>
            <a:ext cx="2514600" cy="4023360"/>
          </a:xfrm>
          <a:prstGeom prst="roundRect">
            <a:avLst>
              <a:gd fmla="val 2909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520440" y="1325880"/>
            <a:ext cx="73152" cy="4023360"/>
          </a:xfrm>
          <a:prstGeom prst="rect">
            <a:avLst/>
          </a:prstGeom>
          <a:solidFill>
            <a:srgbClr val="B45CFF"/>
          </a:solidFill>
          <a:ln cap="flat" cmpd="sng" w="12700">
            <a:solidFill>
              <a:srgbClr val="B4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776472" y="152704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9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Movie details</a:t>
            </a:r>
            <a:endParaRPr b="0" i="0" sz="19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776472" y="1874520"/>
            <a:ext cx="210312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Open a movie to view poster, description, genres, rating average, and comments.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355080" y="1325880"/>
            <a:ext cx="2514600" cy="4023360"/>
          </a:xfrm>
          <a:prstGeom prst="roundRect">
            <a:avLst>
              <a:gd fmla="val 2909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355080" y="1325880"/>
            <a:ext cx="73152" cy="4023360"/>
          </a:xfrm>
          <a:prstGeom prst="rect">
            <a:avLst/>
          </a:prstGeom>
          <a:solidFill>
            <a:srgbClr val="FF5EA8"/>
          </a:solidFill>
          <a:ln cap="flat" cmpd="sng" w="12700">
            <a:solidFill>
              <a:srgbClr val="FF5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611112" y="152704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8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Engage</a:t>
            </a:r>
            <a:endParaRPr b="0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611112" y="1874520"/>
            <a:ext cx="210312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5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Create an account, rate movies, favorite titles, and post or manage comments.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89720" y="1325880"/>
            <a:ext cx="2331720" cy="4023360"/>
          </a:xfrm>
          <a:prstGeom prst="roundRect">
            <a:avLst>
              <a:gd fmla="val 3137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189720" y="1325880"/>
            <a:ext cx="73152" cy="4023360"/>
          </a:xfrm>
          <a:prstGeom prst="rect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445752" y="152704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9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Recommend</a:t>
            </a:r>
            <a:endParaRPr b="0" i="0" sz="19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445752" y="1874520"/>
            <a:ext cx="19202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Get a personalized list based on ratings, favorites, genre preferences, and similar users.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5526102" y="916622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Live demo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77240" y="1508760"/>
            <a:ext cx="2395728" cy="4251960"/>
          </a:xfrm>
          <a:prstGeom prst="roundRect">
            <a:avLst>
              <a:gd fmla="val 3053" name="adj"/>
            </a:avLst>
          </a:prstGeom>
          <a:solidFill>
            <a:srgbClr val="12152A"/>
          </a:solidFill>
          <a:ln cap="flat" cmpd="sng" w="12700">
            <a:solidFill>
              <a:srgbClr val="2D3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978408" y="1737360"/>
            <a:ext cx="530352" cy="530352"/>
          </a:xfrm>
          <a:prstGeom prst="rect">
            <a:avLst/>
          </a:prstGeom>
          <a:solidFill>
            <a:srgbClr val="5EE7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B1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90B1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78408" y="251460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rPr b="1" i="0" lang="en-US" sz="17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Home / browse</a:t>
            </a:r>
            <a:endParaRPr b="0" i="0" sz="17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78408" y="3090672"/>
            <a:ext cx="18836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Open app, show catalog grid, search, filter, and sort.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630168" y="1508760"/>
            <a:ext cx="2395728" cy="4251960"/>
          </a:xfrm>
          <a:prstGeom prst="roundRect">
            <a:avLst>
              <a:gd fmla="val 3053" name="adj"/>
            </a:avLst>
          </a:prstGeom>
          <a:solidFill>
            <a:srgbClr val="171A34"/>
          </a:solidFill>
          <a:ln cap="flat" cmpd="sng" w="12700">
            <a:solidFill>
              <a:srgbClr val="2D3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831336" y="1737360"/>
            <a:ext cx="530352" cy="530352"/>
          </a:xfrm>
          <a:prstGeom prst="rect">
            <a:avLst/>
          </a:prstGeom>
          <a:solidFill>
            <a:srgbClr val="B45C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B1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90B1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831336" y="251460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rPr b="1" i="0" lang="en-US" sz="17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Movie detail</a:t>
            </a:r>
            <a:endParaRPr b="0" i="0" sz="17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831336" y="3090672"/>
            <a:ext cx="18836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Open a title to show poster, genres, details, and comments.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83096" y="1508760"/>
            <a:ext cx="2395728" cy="4251960"/>
          </a:xfrm>
          <a:prstGeom prst="roundRect">
            <a:avLst>
              <a:gd fmla="val 3053" name="adj"/>
            </a:avLst>
          </a:prstGeom>
          <a:solidFill>
            <a:srgbClr val="12152A"/>
          </a:solidFill>
          <a:ln cap="flat" cmpd="sng" w="12700">
            <a:solidFill>
              <a:srgbClr val="2D3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684264" y="1737360"/>
            <a:ext cx="530352" cy="530352"/>
          </a:xfrm>
          <a:prstGeom prst="rect">
            <a:avLst/>
          </a:prstGeom>
          <a:solidFill>
            <a:srgbClr val="FF5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B1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90B1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684264" y="251460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rPr b="1" i="0" lang="en-US" sz="17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r>
              <a:rPr b="1" lang="en-US" sz="1700" u="sng">
                <a:solidFill>
                  <a:srgbClr val="F5F7FF"/>
                </a:solidFill>
              </a:rPr>
              <a:t>Onboarding</a:t>
            </a:r>
            <a:endParaRPr b="0" i="0" sz="17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684264" y="3090672"/>
            <a:ext cx="18836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Sign in with demo user, then rate, favorite, and comment.</a:t>
            </a:r>
            <a:endParaRPr b="0" i="0" sz="12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AAB3D6"/>
                </a:solidFill>
              </a:rPr>
              <a:t>Sign in with another user to showcase data saved </a:t>
            </a:r>
            <a:r>
              <a:rPr lang="en-US" sz="1250">
                <a:solidFill>
                  <a:srgbClr val="AAB3D6"/>
                </a:solidFill>
              </a:rPr>
              <a:t>across</a:t>
            </a:r>
            <a:r>
              <a:rPr lang="en-US" sz="1250">
                <a:solidFill>
                  <a:srgbClr val="AAB3D6"/>
                </a:solidFill>
              </a:rPr>
              <a:t> the app</a:t>
            </a:r>
            <a:endParaRPr sz="1250">
              <a:solidFill>
                <a:srgbClr val="AAB3D6"/>
              </a:solidFill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336024" y="1508760"/>
            <a:ext cx="2395728" cy="4251960"/>
          </a:xfrm>
          <a:prstGeom prst="roundRect">
            <a:avLst>
              <a:gd fmla="val 3053" name="adj"/>
            </a:avLst>
          </a:prstGeom>
          <a:solidFill>
            <a:srgbClr val="171A34"/>
          </a:solidFill>
          <a:ln cap="flat" cmpd="sng" w="12700">
            <a:solidFill>
              <a:srgbClr val="2D3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9537192" y="1737360"/>
            <a:ext cx="530352" cy="530352"/>
          </a:xfrm>
          <a:prstGeom prst="rect">
            <a:avLst/>
          </a:prstGeom>
          <a:solidFill>
            <a:srgbClr val="FFB8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B1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90B1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537192" y="251460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rPr b="1" i="0" lang="en-US" sz="1600" u="sng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16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537192" y="3090672"/>
            <a:ext cx="18836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Open recommendations or home feed and explain why titles appear.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Recommendation approach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66928" y="786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Hybrid logic makes the app useful even with limited user history.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897880" y="1298448"/>
            <a:ext cx="5303520" cy="1051560"/>
          </a:xfrm>
          <a:prstGeom prst="roundRect">
            <a:avLst>
              <a:gd fmla="val 6957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5897880" y="1298448"/>
            <a:ext cx="73152" cy="1051560"/>
          </a:xfrm>
          <a:prstGeom prst="rect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153912" y="1499616"/>
            <a:ext cx="4892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Content-based signal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153912" y="184708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Learns genre preferences from ratings and favorites, then ranks matching titles.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897880" y="2697480"/>
            <a:ext cx="5303520" cy="1051560"/>
          </a:xfrm>
          <a:prstGeom prst="roundRect">
            <a:avLst>
              <a:gd fmla="val 6957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897880" y="2697480"/>
            <a:ext cx="73152" cy="1051560"/>
          </a:xfrm>
          <a:prstGeom prst="rect">
            <a:avLst/>
          </a:prstGeom>
          <a:solidFill>
            <a:srgbClr val="B45CFF"/>
          </a:solidFill>
          <a:ln cap="flat" cmpd="sng" w="12700">
            <a:solidFill>
              <a:srgbClr val="B4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153912" y="2898648"/>
            <a:ext cx="4892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Collaborative signal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153912" y="324612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Compares users with cosine similarity to surface movies liked by similar users.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897880" y="4096512"/>
            <a:ext cx="5303520" cy="1051560"/>
          </a:xfrm>
          <a:prstGeom prst="roundRect">
            <a:avLst>
              <a:gd fmla="val 6957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5897880" y="4096512"/>
            <a:ext cx="73152" cy="1051560"/>
          </a:xfrm>
          <a:prstGeom prst="rect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153912" y="4297680"/>
            <a:ext cx="4892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Fallback signal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153912" y="464515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Uses popular movies and catalog metadata when a user has not rated enough titles yet.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7" title="8fc934bc-15a3-4177-8946-b05b9bf46ef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25" y="1649366"/>
            <a:ext cx="5593082" cy="314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Data model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66928" y="786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Catalog data and user behavior live together in one SQLite file.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777240" y="1325880"/>
            <a:ext cx="3291840" cy="4434840"/>
          </a:xfrm>
          <a:prstGeom prst="roundRect">
            <a:avLst>
              <a:gd fmla="val 2222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777240" y="1325880"/>
            <a:ext cx="73152" cy="4434840"/>
          </a:xfrm>
          <a:prstGeom prst="rect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1033272" y="1527048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21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Catalog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33272" y="1874520"/>
            <a:ext cx="288036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3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movies</a:t>
            </a:r>
            <a:endParaRPr b="0" i="0" sz="23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3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3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genres</a:t>
            </a:r>
            <a:endParaRPr b="0" i="0" sz="23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3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3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similarity pairs</a:t>
            </a:r>
            <a:endParaRPr b="0" i="0" sz="23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3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3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poster URLs</a:t>
            </a:r>
            <a:endParaRPr b="0" i="0" sz="23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3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3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metadata for search and detail pages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434840" y="1325880"/>
            <a:ext cx="3291840" cy="4434840"/>
          </a:xfrm>
          <a:prstGeom prst="roundRect">
            <a:avLst>
              <a:gd fmla="val 2222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434840" y="1325880"/>
            <a:ext cx="73152" cy="4434840"/>
          </a:xfrm>
          <a:prstGeom prst="rect">
            <a:avLst/>
          </a:prstGeom>
          <a:solidFill>
            <a:srgbClr val="B45CFF"/>
          </a:solidFill>
          <a:ln cap="flat" cmpd="sng" w="12700">
            <a:solidFill>
              <a:srgbClr val="B4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4690872" y="1527048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User activity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690872" y="1874520"/>
            <a:ext cx="288036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accounts</a:t>
            </a:r>
            <a:endParaRPr b="0" i="0" sz="24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4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ratings</a:t>
            </a:r>
            <a:endParaRPr b="0" i="0" sz="24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4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favorites</a:t>
            </a:r>
            <a:endParaRPr b="0" i="0" sz="24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4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endParaRPr b="0" i="0" sz="24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24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2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profile preferences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8092440" y="1325880"/>
            <a:ext cx="3291840" cy="4434840"/>
          </a:xfrm>
          <a:prstGeom prst="roundRect">
            <a:avLst>
              <a:gd fmla="val 2222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8092440" y="1325880"/>
            <a:ext cx="73152" cy="4434840"/>
          </a:xfrm>
          <a:prstGeom prst="rect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8348472" y="1527048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Recommendation inputs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348472" y="1874520"/>
            <a:ext cx="288036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genre preferences from behavior</a:t>
            </a:r>
            <a:endParaRPr b="0" i="0" sz="14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4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content-based matching</a:t>
            </a:r>
            <a:endParaRPr b="0" i="0" sz="14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4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collaborative cosine similarity</a:t>
            </a:r>
            <a:endParaRPr b="0" i="0" sz="14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4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popular fallback behavior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566950" y="199900"/>
            <a:ext cx="804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Architecture / Class Diagram</a:t>
            </a:r>
            <a:endParaRPr b="1" sz="2800">
              <a:solidFill>
                <a:srgbClr val="F5F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66938" y="546384"/>
            <a:ext cx="78639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3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A simple full-stack flow from browser actions to persistent data.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high_detail_3d_isometric_oblique_tech_illustrati_batch_3.png" id="140" name="Google Shape;140;p9"/>
          <p:cNvPicPr preferRelativeResize="0"/>
          <p:nvPr/>
        </p:nvPicPr>
        <p:blipFill rotWithShape="1">
          <a:blip r:embed="rId3">
            <a:alphaModFix/>
          </a:blip>
          <a:srcRect b="18666" l="0" r="0" t="18666"/>
          <a:stretch/>
        </p:blipFill>
        <p:spPr>
          <a:xfrm>
            <a:off x="594370" y="799281"/>
            <a:ext cx="11018505" cy="234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960129" y="3289722"/>
            <a:ext cx="1691700" cy="187500"/>
          </a:xfrm>
          <a:prstGeom prst="roundRect">
            <a:avLst>
              <a:gd fmla="val 23529" name="adj"/>
            </a:avLst>
          </a:prstGeom>
          <a:solidFill>
            <a:srgbClr val="171A34"/>
          </a:solidFill>
          <a:ln cap="flat" cmpd="sng" w="12700">
            <a:solidFill>
              <a:srgbClr val="2C315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1042425" y="3336555"/>
            <a:ext cx="15270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3794766" y="3289722"/>
            <a:ext cx="1691700" cy="187500"/>
          </a:xfrm>
          <a:prstGeom prst="roundRect">
            <a:avLst>
              <a:gd fmla="val 23529" name="adj"/>
            </a:avLst>
          </a:prstGeom>
          <a:solidFill>
            <a:srgbClr val="171A34"/>
          </a:solidFill>
          <a:ln cap="flat" cmpd="sng" w="12700">
            <a:solidFill>
              <a:srgbClr val="2C315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3877061" y="3336555"/>
            <a:ext cx="15270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React app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675122" y="3289722"/>
            <a:ext cx="1691700" cy="187500"/>
          </a:xfrm>
          <a:prstGeom prst="roundRect">
            <a:avLst>
              <a:gd fmla="val 23529" name="adj"/>
            </a:avLst>
          </a:prstGeom>
          <a:solidFill>
            <a:srgbClr val="171A34"/>
          </a:solidFill>
          <a:ln cap="flat" cmpd="sng" w="12700">
            <a:solidFill>
              <a:srgbClr val="2C315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6757418" y="3336555"/>
            <a:ext cx="15270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Express REST API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9601198" y="3289722"/>
            <a:ext cx="1691700" cy="187500"/>
          </a:xfrm>
          <a:prstGeom prst="roundRect">
            <a:avLst>
              <a:gd fmla="val 23529" name="adj"/>
            </a:avLst>
          </a:prstGeom>
          <a:solidFill>
            <a:srgbClr val="171A34"/>
          </a:solidFill>
          <a:ln cap="flat" cmpd="sng" w="12700">
            <a:solidFill>
              <a:srgbClr val="2C315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9683494" y="3336555"/>
            <a:ext cx="15270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SQLite movies.db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143009" y="3708468"/>
            <a:ext cx="98754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/api proxy in development, JWT for protected routes, bcryptjs for password hashing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9" title="Screenshot 2026-04-27 2029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325" y="3959750"/>
            <a:ext cx="8046599" cy="27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717090" y="-3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Movie</a:t>
            </a: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 update workflow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-337922" y="425250"/>
            <a:ext cx="621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The project includes a safe operational path for refreshing movie data.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18275" y="1056792"/>
            <a:ext cx="834300" cy="724200"/>
          </a:xfrm>
          <a:prstGeom prst="roundRect">
            <a:avLst>
              <a:gd fmla="val 6667" name="adj"/>
            </a:avLst>
          </a:prstGeom>
          <a:solidFill>
            <a:srgbClr val="12152A"/>
          </a:solidFill>
          <a:ln cap="flat" cmpd="sng" w="8375">
            <a:solidFill>
              <a:srgbClr val="2C31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313844" y="694797"/>
            <a:ext cx="238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7FF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5EE7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5482" y="1292088"/>
            <a:ext cx="715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Edit JSON sources</a:t>
            </a:r>
            <a:endParaRPr b="0" i="0" sz="8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900214" y="1280022"/>
            <a:ext cx="181200" cy="150900"/>
          </a:xfrm>
          <a:prstGeom prst="chevron">
            <a:avLst>
              <a:gd fmla="val 50000" name="adj"/>
            </a:avLst>
          </a:prstGeom>
          <a:solidFill>
            <a:srgbClr val="39406C"/>
          </a:solidFill>
          <a:ln cap="flat" cmpd="sng" w="8375">
            <a:solidFill>
              <a:srgbClr val="394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186248" y="1056792"/>
            <a:ext cx="834300" cy="724200"/>
          </a:xfrm>
          <a:prstGeom prst="roundRect">
            <a:avLst>
              <a:gd fmla="val 6667" name="adj"/>
            </a:avLst>
          </a:prstGeom>
          <a:solidFill>
            <a:srgbClr val="12152A"/>
          </a:solidFill>
          <a:ln cap="flat" cmpd="sng" w="8375">
            <a:solidFill>
              <a:srgbClr val="2C31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1481817" y="694797"/>
            <a:ext cx="238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CFF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B45C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243455" y="1292088"/>
            <a:ext cx="715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Validate data</a:t>
            </a:r>
            <a:endParaRPr b="0" i="0" sz="8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2068188" y="1280022"/>
            <a:ext cx="181200" cy="150900"/>
          </a:xfrm>
          <a:prstGeom prst="chevron">
            <a:avLst>
              <a:gd fmla="val 50000" name="adj"/>
            </a:avLst>
          </a:prstGeom>
          <a:solidFill>
            <a:srgbClr val="39406C"/>
          </a:solidFill>
          <a:ln cap="flat" cmpd="sng" w="8375">
            <a:solidFill>
              <a:srgbClr val="394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2354222" y="1056792"/>
            <a:ext cx="834300" cy="724200"/>
          </a:xfrm>
          <a:prstGeom prst="roundRect">
            <a:avLst>
              <a:gd fmla="val 6667" name="adj"/>
            </a:avLst>
          </a:prstGeom>
          <a:solidFill>
            <a:srgbClr val="12152A"/>
          </a:solidFill>
          <a:ln cap="flat" cmpd="sng" w="8375">
            <a:solidFill>
              <a:srgbClr val="2C31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2649791" y="694797"/>
            <a:ext cx="238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A8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FF5E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411429" y="1292088"/>
            <a:ext cx="715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Fetch and verify posters</a:t>
            </a:r>
            <a:endParaRPr b="0" i="0" sz="8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3236162" y="1280022"/>
            <a:ext cx="181200" cy="150900"/>
          </a:xfrm>
          <a:prstGeom prst="chevron">
            <a:avLst>
              <a:gd fmla="val 50000" name="adj"/>
            </a:avLst>
          </a:prstGeom>
          <a:solidFill>
            <a:srgbClr val="39406C"/>
          </a:solidFill>
          <a:ln cap="flat" cmpd="sng" w="8375">
            <a:solidFill>
              <a:srgbClr val="394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3522196" y="1056792"/>
            <a:ext cx="834300" cy="724200"/>
          </a:xfrm>
          <a:prstGeom prst="roundRect">
            <a:avLst>
              <a:gd fmla="val 6667" name="adj"/>
            </a:avLst>
          </a:prstGeom>
          <a:solidFill>
            <a:srgbClr val="12152A"/>
          </a:solidFill>
          <a:ln cap="flat" cmpd="sng" w="8375">
            <a:solidFill>
              <a:srgbClr val="2C31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3817765" y="694797"/>
            <a:ext cx="238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6B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FFB86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579403" y="1292088"/>
            <a:ext cx="715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Backup movies.db</a:t>
            </a:r>
            <a:endParaRPr b="0" i="0" sz="8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404135" y="1280022"/>
            <a:ext cx="181200" cy="150900"/>
          </a:xfrm>
          <a:prstGeom prst="chevron">
            <a:avLst>
              <a:gd fmla="val 50000" name="adj"/>
            </a:avLst>
          </a:prstGeom>
          <a:solidFill>
            <a:srgbClr val="39406C"/>
          </a:solidFill>
          <a:ln cap="flat" cmpd="sng" w="8375">
            <a:solidFill>
              <a:srgbClr val="394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4690170" y="1056792"/>
            <a:ext cx="834300" cy="724200"/>
          </a:xfrm>
          <a:prstGeom prst="roundRect">
            <a:avLst>
              <a:gd fmla="val 6667" name="adj"/>
            </a:avLst>
          </a:prstGeom>
          <a:solidFill>
            <a:srgbClr val="12152A"/>
          </a:solidFill>
          <a:ln cap="flat" cmpd="sng" w="8375">
            <a:solidFill>
              <a:srgbClr val="2C31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4985739" y="694797"/>
            <a:ext cx="238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FFA8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6BFFA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747377" y="1292088"/>
            <a:ext cx="715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Seed + migrate user rows</a:t>
            </a:r>
            <a:endParaRPr b="0" i="0" sz="8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0" y="2611226"/>
            <a:ext cx="56181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F5F7FF"/>
                </a:solidFill>
              </a:rPr>
              <a:t>`</a:t>
            </a:r>
            <a:r>
              <a:rPr lang="en-US" sz="1700">
                <a:solidFill>
                  <a:schemeClr val="accent4"/>
                </a:solidFill>
              </a:rPr>
              <a:t>@agent use @UPDATE_MOVIES_AGENT.md to verify/add the following movies before running npm run test in backend:</a:t>
            </a:r>
            <a:r>
              <a:rPr lang="en-US" sz="1700">
                <a:solidFill>
                  <a:srgbClr val="F5F7FF"/>
                </a:solidFill>
              </a:rPr>
              <a:t>`</a:t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F5F7FF"/>
                </a:solidFill>
              </a:rPr>
              <a:t>`</a:t>
            </a:r>
            <a:r>
              <a:rPr lang="en-US" sz="1700">
                <a:solidFill>
                  <a:schemeClr val="accent4"/>
                </a:solidFill>
              </a:rPr>
              <a:t>@agent use @UPDATE_MOVIES_AGENT.md to add 10 movies and similarities</a:t>
            </a:r>
            <a:r>
              <a:rPr lang="en-US" sz="1700">
                <a:solidFill>
                  <a:srgbClr val="F5F7FF"/>
                </a:solidFill>
              </a:rPr>
              <a:t>`</a:t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5F7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F5F7FF"/>
                </a:solidFill>
              </a:rPr>
              <a:t>npm </a:t>
            </a:r>
            <a:r>
              <a:rPr b="0" i="0" lang="en-US" sz="17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seed:migrate preserves accounts, ratings, favorites, and comments by merging from backups after catalog changes.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0" title="dev-workflow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8378" y="563997"/>
            <a:ext cx="6010897" cy="557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492075" y="319725"/>
            <a:ext cx="804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Statecharts: Onboarding Wizard </a:t>
            </a:r>
            <a:endParaRPr b="1" sz="2800">
              <a:solidFill>
                <a:srgbClr val="F5F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0808208" y="6428232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1" title="onboarding wiz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75" y="1139275"/>
            <a:ext cx="6713551" cy="45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/>
          <p:nvPr/>
        </p:nvSpPr>
        <p:spPr>
          <a:xfrm>
            <a:off x="492075" y="319725"/>
            <a:ext cx="804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Statecharts: Client Session and Route Gating (Auth)</a:t>
            </a:r>
            <a:endParaRPr b="1" sz="2800">
              <a:solidFill>
                <a:srgbClr val="F5F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0808208" y="6428232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2" title="Screenshot 2026-04-27 2048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75" y="1364250"/>
            <a:ext cx="7515225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/>
          <p:nvPr/>
        </p:nvSpPr>
        <p:spPr>
          <a:xfrm>
            <a:off x="492075" y="319725"/>
            <a:ext cx="10098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Statecharts: API Flow ( CLient -&gt; API -&gt; Persistent DB )</a:t>
            </a:r>
            <a:endParaRPr b="1" sz="2800">
              <a:solidFill>
                <a:srgbClr val="F5F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10808208" y="6428232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3" title="API-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63" y="780125"/>
            <a:ext cx="8648700" cy="58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/>
          <p:nvPr/>
        </p:nvSpPr>
        <p:spPr>
          <a:xfrm>
            <a:off x="492075" y="319725"/>
            <a:ext cx="804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Statecharts: User-Interaction (Conceptual)</a:t>
            </a:r>
            <a:endParaRPr b="1" sz="2800">
              <a:solidFill>
                <a:srgbClr val="F5F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10808208" y="6428232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14" title="user-intera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75" y="1833562"/>
            <a:ext cx="60102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Quality and testing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566928" y="786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Backend tests keep API changes from quietly breaking user flows.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868680" y="1417320"/>
            <a:ext cx="3246120" cy="4206240"/>
          </a:xfrm>
          <a:prstGeom prst="roundRect">
            <a:avLst>
              <a:gd fmla="val 2254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868680" y="1417320"/>
            <a:ext cx="73152" cy="4206240"/>
          </a:xfrm>
          <a:prstGeom prst="rect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1124712" y="161848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Jest backend tests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1124712" y="1965960"/>
            <a:ext cx="283464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lang="en-US" sz="1750">
                <a:solidFill>
                  <a:srgbClr val="AAB3D6"/>
                </a:solidFill>
              </a:rPr>
              <a:t>`</a:t>
            </a:r>
            <a:r>
              <a:rPr b="0" i="0" lang="en-US" sz="17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npm test` validates key API behavior and stores test reports under tests/history/.</a:t>
            </a:r>
            <a:endParaRPr b="0" i="0" sz="17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7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750">
              <a:solidFill>
                <a:srgbClr val="AAB3D6"/>
              </a:solidFill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4480560" y="1417320"/>
            <a:ext cx="3246120" cy="4206240"/>
          </a:xfrm>
          <a:prstGeom prst="roundRect">
            <a:avLst>
              <a:gd fmla="val 2254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4480560" y="1417320"/>
            <a:ext cx="73152" cy="4206240"/>
          </a:xfrm>
          <a:prstGeom prst="rect">
            <a:avLst/>
          </a:prstGeom>
          <a:solidFill>
            <a:srgbClr val="B45CFF"/>
          </a:solidFill>
          <a:ln cap="flat" cmpd="sng" w="12700">
            <a:solidFill>
              <a:srgbClr val="B4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4736592" y="161848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Regression control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736592" y="1965960"/>
            <a:ext cx="283464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8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Tests are most valuable around auth, movie endpoints, interactions, and recommendation responses.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8092440" y="1417320"/>
            <a:ext cx="2971800" cy="4206240"/>
          </a:xfrm>
          <a:prstGeom prst="roundRect">
            <a:avLst>
              <a:gd fmla="val 2462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8092440" y="1417320"/>
            <a:ext cx="73152" cy="4206240"/>
          </a:xfrm>
          <a:prstGeom prst="rect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8348472" y="161848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Demo readiness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8348472" y="1965960"/>
            <a:ext cx="256032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8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Known demo accounts make repeatable presentations easier and reduce live setup risk.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/>
          <p:nvPr/>
        </p:nvSpPr>
        <p:spPr>
          <a:xfrm>
            <a:off x="548640" y="347472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Acceptance Test Cases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566928" y="786384"/>
            <a:ext cx="786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AAB3D6"/>
                </a:solidFill>
              </a:rPr>
              <a:t>Mapped to 120+ Jest/Supertest </a:t>
            </a:r>
            <a:r>
              <a:rPr lang="en-US" sz="1000">
                <a:solidFill>
                  <a:srgbClr val="AAB3D6"/>
                </a:solidFill>
              </a:rPr>
              <a:t>integration</a:t>
            </a:r>
            <a:r>
              <a:rPr lang="en-US" sz="1000">
                <a:solidFill>
                  <a:srgbClr val="AAB3D6"/>
                </a:solidFill>
              </a:rPr>
              <a:t> tests in backend/tests/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868680" y="1417320"/>
            <a:ext cx="3246000" cy="4206300"/>
          </a:xfrm>
          <a:prstGeom prst="roundRect">
            <a:avLst>
              <a:gd fmla="val 2254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868680" y="1417320"/>
            <a:ext cx="73200" cy="4206300"/>
          </a:xfrm>
          <a:prstGeom prst="rect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1124712" y="161848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Jest backend tests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1124712" y="1965960"/>
            <a:ext cx="28347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lang="en-US" sz="1750">
                <a:solidFill>
                  <a:srgbClr val="AAB3D6"/>
                </a:solidFill>
              </a:rPr>
              <a:t>`</a:t>
            </a:r>
            <a:r>
              <a:rPr b="0" i="0" lang="en-US" sz="17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npm test` validates key API behavior and stores test reports under tests/history/.</a:t>
            </a:r>
            <a:endParaRPr b="0" i="0" sz="17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7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750">
              <a:solidFill>
                <a:srgbClr val="AAB3D6"/>
              </a:solidFill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4480560" y="1417320"/>
            <a:ext cx="3246000" cy="4206300"/>
          </a:xfrm>
          <a:prstGeom prst="roundRect">
            <a:avLst>
              <a:gd fmla="val 2254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4480560" y="1417320"/>
            <a:ext cx="73200" cy="4206300"/>
          </a:xfrm>
          <a:prstGeom prst="rect">
            <a:avLst/>
          </a:prstGeom>
          <a:solidFill>
            <a:srgbClr val="B45CFF"/>
          </a:solidFill>
          <a:ln cap="flat" cmpd="sng" w="12700">
            <a:solidFill>
              <a:srgbClr val="B4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4736592" y="161848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Regression control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4736592" y="1965960"/>
            <a:ext cx="28347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8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Tests are most valuable around auth, movie endpoints, interactions, and recommendation responses.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8092440" y="1417320"/>
            <a:ext cx="2971800" cy="4206300"/>
          </a:xfrm>
          <a:prstGeom prst="roundRect">
            <a:avLst>
              <a:gd fmla="val 2462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8092440" y="1417320"/>
            <a:ext cx="73200" cy="4206300"/>
          </a:xfrm>
          <a:prstGeom prst="rect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8348472" y="1618488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Demo readiness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8348472" y="1965960"/>
            <a:ext cx="25602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8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Known demo accounts make repeatable presentations easier and reduce live setup risk.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0808208" y="6428232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6"/>
          <p:cNvPicPr preferRelativeResize="0"/>
          <p:nvPr/>
        </p:nvPicPr>
        <p:blipFill rotWithShape="1">
          <a:blip r:embed="rId3">
            <a:alphaModFix/>
          </a:blip>
          <a:srcRect b="28291" l="3734" r="10818" t="25997"/>
          <a:stretch/>
        </p:blipFill>
        <p:spPr>
          <a:xfrm>
            <a:off x="-1" y="1069575"/>
            <a:ext cx="11631099" cy="4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Challenges and design decisions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566928" y="786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The memorable engineering tradeoffs behind the app.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822960" y="1490472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1051560" y="1417320"/>
            <a:ext cx="5623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Single SQLite file keeps deployment simple, but destructive scripts need backups.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822960" y="2148840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1051560" y="2075688"/>
            <a:ext cx="5623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sql.js is file-backed, so the backend should be stopped before risky database scripts.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1051560" y="3664249"/>
            <a:ext cx="56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5F7FF"/>
                </a:solidFill>
              </a:rPr>
              <a:t>Poster quality depends on OMDb coverage and fallback validation. Using `@agent use @UPDATE_MOVIE_LIST.md fix movieName’s poster` mitigates this, depending on the model used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822960" y="2807208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1051560" y="2734056"/>
            <a:ext cx="5623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Movie IDs can shift after reseed, requiring migration by stable fields.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17" title="86bdf8e3-e923-4bae-b046-4a9479aba18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8850" y="1473714"/>
            <a:ext cx="5047513" cy="2840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What comes next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566928" y="786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Logical extensions after the working full-stack baseline.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868680" y="1417320"/>
            <a:ext cx="3200400" cy="4114800"/>
          </a:xfrm>
          <a:prstGeom prst="roundRect">
            <a:avLst>
              <a:gd fmla="val 2286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868680" y="1417320"/>
            <a:ext cx="73152" cy="4114800"/>
          </a:xfrm>
          <a:prstGeom prst="rect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1124712" y="161848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Smarter ranking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124712" y="1965960"/>
            <a:ext cx="278892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Tune hybrid weights, add more signals, and support cold-start onboarding.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4480560" y="1417320"/>
            <a:ext cx="3200400" cy="4114800"/>
          </a:xfrm>
          <a:prstGeom prst="roundRect">
            <a:avLst>
              <a:gd fmla="val 2286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4480560" y="1417320"/>
            <a:ext cx="73152" cy="4114800"/>
          </a:xfrm>
          <a:prstGeom prst="rect">
            <a:avLst/>
          </a:prstGeom>
          <a:solidFill>
            <a:srgbClr val="B45CFF"/>
          </a:solidFill>
          <a:ln cap="flat" cmpd="sng" w="12700">
            <a:solidFill>
              <a:srgbClr val="B4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4736592" y="161848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4736592" y="1965960"/>
            <a:ext cx="278892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Package backend + DB carefully and host the frontend with environment-aware API URLs.</a:t>
            </a:r>
            <a:endParaRPr b="0" i="0" sz="1150" u="none" cap="none" strike="noStrike">
              <a:solidFill>
                <a:srgbClr val="AAB3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AAB3D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AAB3D6"/>
                </a:solidFill>
              </a:rPr>
              <a:t>Project will be containerized within a Docker image for easy deployment</a:t>
            </a:r>
            <a:endParaRPr sz="1150">
              <a:solidFill>
                <a:srgbClr val="AAB3D6"/>
              </a:solidFill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8092440" y="1417320"/>
            <a:ext cx="3108960" cy="4114800"/>
          </a:xfrm>
          <a:prstGeom prst="roundRect">
            <a:avLst>
              <a:gd fmla="val 2353" name="adj"/>
            </a:avLst>
          </a:prstGeom>
          <a:solidFill>
            <a:srgbClr val="12152A"/>
          </a:solidFill>
          <a:ln cap="flat" cmpd="sng" w="12700">
            <a:solidFill>
              <a:srgbClr val="2A2F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8092440" y="1417320"/>
            <a:ext cx="73152" cy="4114800"/>
          </a:xfrm>
          <a:prstGeom prst="rect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8348472" y="161848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Admin tools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8348472" y="1965960"/>
            <a:ext cx="269748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Add catalog editor, poster repair workflow, and safer one-click backups.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10808208" y="642823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11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"/>
          <p:cNvSpPr/>
          <p:nvPr/>
        </p:nvSpPr>
        <p:spPr>
          <a:xfrm>
            <a:off x="548640" y="347472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5F7FF"/>
                </a:solidFill>
                <a:latin typeface="Play"/>
                <a:ea typeface="Play"/>
                <a:cs typeface="Play"/>
                <a:sym typeface="Play"/>
              </a:rPr>
              <a:t>Network Graph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566928" y="786384"/>
            <a:ext cx="786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10808208" y="6428232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9719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97195"/>
                </a:solidFill>
                <a:latin typeface="Arial"/>
                <a:ea typeface="Arial"/>
                <a:cs typeface="Arial"/>
                <a:sym typeface="Arial"/>
              </a:rPr>
              <a:t>CineMatch | 11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19" title="net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000" y="1633546"/>
            <a:ext cx="862965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16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cinematic_digital_illustration_concept_a_batch_2.png" id="305" name="Google Shape;305;p20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00000">
              <a:alpha val="56862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731520" y="9144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914400" y="1947672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1143000" y="187452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Full-stack app for browsing, engagement, and recommendations.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914400" y="2660904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1143000" y="2587752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React + Express + SQLite keeps the project understandable and demoable.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914400" y="3374136"/>
            <a:ext cx="109728" cy="109728"/>
          </a:xfrm>
          <a:prstGeom prst="ellipse">
            <a:avLst/>
          </a:prstGeom>
          <a:solidFill>
            <a:srgbClr val="5EE7FF"/>
          </a:solidFill>
          <a:ln cap="flat" cmpd="sng" w="12700">
            <a:solidFill>
              <a:srgbClr val="5E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1143000" y="3300984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7FF"/>
                </a:solidFill>
                <a:latin typeface="Arial"/>
                <a:ea typeface="Arial"/>
                <a:cs typeface="Arial"/>
                <a:sym typeface="Arial"/>
              </a:rPr>
              <a:t>Catalog refresh workflow protects user data as the app evolves.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77724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7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5EE7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822960" y="589788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3D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B3D6"/>
                </a:solidFill>
                <a:latin typeface="Arial"/>
                <a:ea typeface="Arial"/>
                <a:cs typeface="Arial"/>
                <a:sym typeface="Arial"/>
              </a:rPr>
              <a:t>GitHub: bigbadcyborg/movie-recommendation-app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